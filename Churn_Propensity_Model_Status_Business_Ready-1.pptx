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Churn / Propensity Model – Current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868680"/>
            <a:ext cx="10972800" cy="822960"/>
          </a:xfrm>
          <a:prstGeom prst="roundRect">
            <a:avLst/>
          </a:prstGeom>
          <a:solidFill>
            <a:srgbClr val="E8F2FD"/>
          </a:solidFill>
          <a:ln w="15875">
            <a:solidFill>
              <a:srgbClr val="26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46304"/>
          <a:lstStyle/>
          <a:p>
            <a:pPr algn="ctr">
              <a:defRPr sz="1800" b="1">
                <a:solidFill>
                  <a:srgbClr val="142E4D"/>
                </a:solidFill>
              </a:defRPr>
            </a:pPr>
            <a:r>
              <a:t>Objective: predict which accounts are likely to churn / not be retained, so retention actions can be prioritised earlier.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94960" cy="658368"/>
          </a:xfrm>
          <a:prstGeom prst="roundRect">
            <a:avLst/>
          </a:prstGeom>
          <a:solidFill>
            <a:srgbClr val="F2F4F7"/>
          </a:solidFill>
          <a:ln w="17780">
            <a:solidFill>
              <a:srgbClr val="26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142E4D"/>
                </a:solidFill>
              </a:defRPr>
            </a:pPr>
            <a:r>
              <a:t>What is the goal?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Predict accounts likely to churn / not be retained.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79776"/>
            <a:ext cx="5394960" cy="658368"/>
          </a:xfrm>
          <a:prstGeom prst="roundRect">
            <a:avLst/>
          </a:prstGeom>
          <a:solidFill>
            <a:srgbClr val="F2F4F7"/>
          </a:solidFill>
          <a:ln w="17780">
            <a:solidFill>
              <a:srgbClr val="26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142E4D"/>
                </a:solidFill>
              </a:defRPr>
            </a:pPr>
            <a:r>
              <a:t>What kind of problem is this?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Supervised learning classification: the model learns from past examples where the outcome is known.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593592"/>
            <a:ext cx="5394960" cy="658368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DF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142E4D"/>
                </a:solidFill>
              </a:defRPr>
            </a:pPr>
            <a:r>
              <a:t>Where are we now?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Foundation / POC stage — not full ML development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407408"/>
            <a:ext cx="5394960" cy="658368"/>
          </a:xfrm>
          <a:prstGeom prst="roundRect">
            <a:avLst/>
          </a:prstGeom>
          <a:solidFill>
            <a:srgbClr val="E8F7EC"/>
          </a:solidFill>
          <a:ln w="17780">
            <a:solidFill>
              <a:srgbClr val="3F9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142E4D"/>
                </a:solidFill>
              </a:defRPr>
            </a:pPr>
            <a:r>
              <a:t>What has been done so far?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Data exploration, feature feasibility, model evaluation POC, and MLOps POC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221224"/>
            <a:ext cx="5394960" cy="658368"/>
          </a:xfrm>
          <a:prstGeom prst="roundRect">
            <a:avLst/>
          </a:prstGeom>
          <a:solidFill>
            <a:srgbClr val="F2F4F7"/>
          </a:solidFill>
          <a:ln w="17780">
            <a:solidFill>
              <a:srgbClr val="53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142E4D"/>
                </a:solidFill>
              </a:defRPr>
            </a:pPr>
            <a:r>
              <a:t>What is pending?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Full ML development depends on cleansed / silver-layer data availability.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2057400"/>
            <a:ext cx="4114800" cy="4114800"/>
          </a:xfrm>
          <a:prstGeom prst="ellipse">
            <a:avLst/>
          </a:prstGeom>
          <a:solidFill>
            <a:srgbClr val="F6F8FA"/>
          </a:solidFill>
          <a:ln w="25400">
            <a:solidFill>
              <a:srgbClr val="DF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F9F2E"/>
                </a:solidFill>
              </a:defRPr>
            </a:pPr>
            <a:r>
              <a:t>YOU ARE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24612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2E4D"/>
                </a:solidFill>
              </a:defRPr>
            </a:pPr>
            <a:r>
              <a:t>Foundation /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913632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35E69"/>
                </a:solidFill>
              </a:defRPr>
            </a:pPr>
            <a:r>
              <a:t>Exploring feasibility, comparing models,</a:t>
            </a:r>
            <a:br/>
            <a:r>
              <a:t>and setting up MLOps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1447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35E69"/>
                </a:solidFill>
              </a:defRPr>
            </a:pPr>
            <a:r>
              <a:t>Full development starts after cleansed / silver-layer data is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379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9191"/>
                </a:solidFill>
              </a:defRPr>
            </a:pPr>
            <a:r>
              <a:t>Status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Status and Path Forward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520440" cy="4160520"/>
          </a:xfrm>
          <a:prstGeom prst="roundRect">
            <a:avLst/>
          </a:prstGeom>
          <a:solidFill>
            <a:srgbClr val="E8F7EC"/>
          </a:solidFill>
          <a:ln w="17780">
            <a:solidFill>
              <a:srgbClr val="3F9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3F9154"/>
                </a:solidFill>
              </a:defRPr>
            </a:pPr>
            <a:r>
              <a:t>Completed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Exploratory data analysis across key sources: Sonata ODS, Salesforce, Behavioural dataset, Qualtrics.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Potential churn-driver fields identified and assessed for ML suitability.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Model evaluation POC completed using SonataODS DEV data.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Five candidate classification models trained, evaluated and compared.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051560"/>
            <a:ext cx="3520440" cy="4160520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DF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DF9F2E"/>
                </a:solidFill>
              </a:defRPr>
            </a:pPr>
            <a:r>
              <a:t>In Progress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Databricks MLOps capability POC.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Experiment tracking and run history.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Model versioning and governance approach.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Deployment readiness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51560"/>
            <a:ext cx="3520440" cy="4160520"/>
          </a:xfrm>
          <a:prstGeom prst="roundRect">
            <a:avLst/>
          </a:prstGeom>
          <a:solidFill>
            <a:srgbClr val="E8F2FD"/>
          </a:solidFill>
          <a:ln w="17780">
            <a:solidFill>
              <a:srgbClr val="26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73152"/>
          <a:lstStyle/>
          <a:p>
            <a:pPr algn="ctr">
              <a:spcAft>
                <a:spcPts val="600"/>
              </a:spcAft>
              <a:defRPr b="1" sz="1500">
                <a:solidFill>
                  <a:srgbClr val="2670B4"/>
                </a:solidFill>
              </a:defRPr>
            </a:pPr>
            <a:r>
              <a:t>Pending / Next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Cleansed / silver-layer data availability.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Production data profiling and quality checks.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Feature engineering and feature selection.</a:t>
            </a:r>
          </a:p>
          <a:p>
            <a:pPr>
              <a:spcAft>
                <a:spcPts val="200"/>
              </a:spcAft>
              <a:defRPr sz="1250">
                <a:solidFill>
                  <a:srgbClr val="262B30"/>
                </a:solidFill>
              </a:defRPr>
            </a:pPr>
            <a:r>
              <a:t>Full ML development and prediction output design.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1" y="2743200"/>
            <a:ext cx="228600" cy="320040"/>
          </a:xfrm>
          <a:prstGeom prst="rightArrow">
            <a:avLst/>
          </a:prstGeom>
          <a:solidFill>
            <a:srgbClr val="535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891272" y="2743200"/>
            <a:ext cx="228600" cy="320040"/>
          </a:xfrm>
          <a:prstGeom prst="rightArrow">
            <a:avLst/>
          </a:prstGeom>
          <a:solidFill>
            <a:srgbClr val="535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5596128"/>
            <a:ext cx="10835640" cy="685800"/>
          </a:xfrm>
          <a:prstGeom prst="roundRect">
            <a:avLst/>
          </a:prstGeom>
          <a:solidFill>
            <a:srgbClr val="FFFCF1"/>
          </a:solidFill>
          <a:ln w="13970">
            <a:solidFill>
              <a:srgbClr val="DF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600" b="1">
                <a:solidFill>
                  <a:srgbClr val="142E4D"/>
                </a:solidFill>
              </a:defRPr>
            </a:pPr>
            <a:r>
              <a:t>Positioning: current work is de-risking the ML approach before full development begins on governed, cleansed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379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9191"/>
                </a:solidFill>
              </a:defRPr>
            </a:pPr>
            <a:r>
              <a:t>Status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